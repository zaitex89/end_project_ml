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0IuudRYcXPyQr4Mn4YYH3fN6M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0607040" y="914400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1064240" y="1188720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881360" y="1645920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1430000" y="1554480"/>
            <a:ext cx="146304" cy="146304"/>
          </a:xfrm>
          <a:prstGeom prst="ellipse">
            <a:avLst/>
          </a:prstGeom>
          <a:solidFill>
            <a:srgbClr val="CF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332720" y="1463040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1247120" y="2011680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698480" y="2194560"/>
            <a:ext cx="146304" cy="146304"/>
          </a:xfrm>
          <a:prstGeom prst="ellipse">
            <a:avLst/>
          </a:prstGeom>
          <a:solidFill>
            <a:srgbClr val="CF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972800" y="640080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521440" y="1005840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0241280" y="1005840"/>
            <a:ext cx="146304" cy="146304"/>
          </a:xfrm>
          <a:prstGeom prst="ellipse">
            <a:avLst/>
          </a:prstGeom>
          <a:solidFill>
            <a:srgbClr val="CF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MULTIMODAL DJUPINLÄRNING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03504" y="23774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Huddiagnostik med bild + patientdata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0080" y="3886200"/>
            <a:ext cx="8961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Ett neuralt nät som kombinerar dermatoskopiska bilder med strukturerad metadata för att klassificera sju hudlesioner.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0080" y="5029200"/>
            <a:ext cx="1124712" cy="457200"/>
          </a:xfrm>
          <a:prstGeom prst="roundRect">
            <a:avLst>
              <a:gd fmla="val 50000" name="adj"/>
            </a:avLst>
          </a:prstGeom>
          <a:solidFill>
            <a:srgbClr val="12414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0080" y="5029200"/>
            <a:ext cx="1124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HAM10000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993392" y="5029200"/>
            <a:ext cx="1728216" cy="457200"/>
          </a:xfrm>
          <a:prstGeom prst="roundRect">
            <a:avLst>
              <a:gd fmla="val 50000" name="adj"/>
            </a:avLst>
          </a:prstGeom>
          <a:solidFill>
            <a:srgbClr val="12414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993392" y="5029200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PyTorch + ROCm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950208" y="5029200"/>
            <a:ext cx="1828800" cy="457200"/>
          </a:xfrm>
          <a:prstGeom prst="roundRect">
            <a:avLst>
              <a:gd fmla="val 50000" name="adj"/>
            </a:avLst>
          </a:prstGeom>
          <a:solidFill>
            <a:srgbClr val="12414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950208" y="5029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ResNet50-fusion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007608" y="5029200"/>
            <a:ext cx="1627632" cy="457200"/>
          </a:xfrm>
          <a:prstGeom prst="roundRect">
            <a:avLst>
              <a:gd fmla="val 50000" name="adj"/>
            </a:avLst>
          </a:prstGeom>
          <a:solidFill>
            <a:srgbClr val="12414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007608" y="502920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10 015 bilder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Macro-AUC 0,958</a:t>
            </a:r>
            <a:endParaRPr b="0" i="0" sz="1300" u="none" cap="none" strike="noStrike">
              <a:solidFill>
                <a:srgbClr val="CFE7E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548640" y="4114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371600" y="3840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BAKGRUND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Problemet &amp; vår ansats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1554480"/>
            <a:ext cx="5212080" cy="4480560"/>
          </a:xfrm>
          <a:prstGeom prst="roundRect">
            <a:avLst>
              <a:gd fmla="val 2449" name="adj"/>
            </a:avLst>
          </a:prstGeom>
          <a:solidFill>
            <a:srgbClr val="F1F7F8"/>
          </a:solidFill>
          <a:ln cap="flat" cmpd="sng" w="12700">
            <a:solidFill>
              <a:srgbClr val="DCE9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Utmaningen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68680" y="2331720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Sju lesions typer, från ofarliga mola till melanom, en av de dödligaste hud cancrarna.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12333F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Diagnoserna liknar varandra visuellt, svårt även för experter.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rgbClr val="12333F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Extremt obalanserad data: en klass utgör två tredjedelar.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126480" y="17373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Vår ansats: hela ML-kedjan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126480" y="22860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126480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812280" y="22311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Dataförberedelse &amp; EDA</a:t>
            </a:r>
            <a:br>
              <a:rPr b="1" i="0" lang="en-US" sz="16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Imputering, kategorisk kodning, statistiska test, grupperad split på lesion_id.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126480" y="3218688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126480" y="32186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812280" y="3163824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Oövervakad analys</a:t>
            </a:r>
            <a:br>
              <a:rPr b="1" i="0" lang="en-US" sz="16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Embeddings → UMAP → klustring för att förstå datastrukturen.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126480" y="4151376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126480" y="41513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812280" y="4096512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Multimodal modell</a:t>
            </a:r>
            <a:br>
              <a:rPr b="1" i="0" lang="en-US" sz="16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Fusion av bild (CNN) och metadata (MLP) i ett nät.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26480" y="5084064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126480" y="50840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812280" y="50292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Utvärdering</a:t>
            </a:r>
            <a:br>
              <a:rPr b="1" i="0" lang="en-US" sz="16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Confusion matrix, AUC-ROC och precision-recall.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548640" y="4114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371600" y="3840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Datamängden: HAM10000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1600200"/>
            <a:ext cx="2148840" cy="1371600"/>
          </a:xfrm>
          <a:prstGeom prst="roundRect">
            <a:avLst>
              <a:gd fmla="val 6667" name="adj"/>
            </a:avLst>
          </a:prstGeom>
          <a:solidFill>
            <a:srgbClr val="0B2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173736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10 015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24688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dermatoskopiska bilder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880360" y="1600200"/>
            <a:ext cx="2148840" cy="1371600"/>
          </a:xfrm>
          <a:prstGeom prst="roundRect">
            <a:avLst>
              <a:gd fmla="val 6667" name="adj"/>
            </a:avLst>
          </a:prstGeom>
          <a:solidFill>
            <a:srgbClr val="0B2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880360" y="173736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880360" y="24688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diagnosklasser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212080" y="1600200"/>
            <a:ext cx="2148840" cy="1371600"/>
          </a:xfrm>
          <a:prstGeom prst="roundRect">
            <a:avLst>
              <a:gd fmla="val 6667" name="adj"/>
            </a:avLst>
          </a:prstGeom>
          <a:solidFill>
            <a:srgbClr val="0B2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212080" y="173736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212080" y="24688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metadata-features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48640" y="3200400"/>
            <a:ext cx="6629400" cy="2834640"/>
          </a:xfrm>
          <a:prstGeom prst="roundRect">
            <a:avLst>
              <a:gd fmla="val 3226" name="adj"/>
            </a:avLst>
          </a:prstGeom>
          <a:solidFill>
            <a:srgbClr val="F1F7F8"/>
          </a:solidFill>
          <a:ln cap="flat" cmpd="sng" w="12700">
            <a:solidFill>
              <a:srgbClr val="DCE9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22960" y="338328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Den stora utmaningen: klassobalans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22960" y="3794760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67 %</a:t>
            </a:r>
            <a:r>
              <a:rPr b="0" i="0" lang="en-US" sz="15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 av all data tillhör klassen </a:t>
            </a:r>
            <a:r>
              <a:rPr b="1" i="0" lang="en-US" sz="15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nv</a:t>
            </a:r>
            <a:r>
              <a:rPr b="0" i="0" lang="en-US" sz="15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 (vanlig mola), medan </a:t>
            </a:r>
            <a:r>
              <a:rPr b="1" i="0" lang="en-US" sz="15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r>
              <a:rPr b="0" i="0" lang="en-US" sz="15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 bara har 115 exempel, en faktor 58 mellan största och minsta klass.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22960" y="4937760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Utan motåtgärder lär sig modellen bara majoritet klassen.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315200" y="178308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nv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001000" y="1856232"/>
            <a:ext cx="3017520" cy="310896"/>
          </a:xfrm>
          <a:prstGeom prst="roundRect">
            <a:avLst>
              <a:gd fmla="val 882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1091672" y="17830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6 705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315200" y="2386584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mel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001000" y="2459736"/>
            <a:ext cx="500895" cy="310896"/>
          </a:xfrm>
          <a:prstGeom prst="roundRect">
            <a:avLst>
              <a:gd fmla="val 882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575047" y="2386584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1 113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315200" y="2990088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bkl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001000" y="3063240"/>
            <a:ext cx="494594" cy="310896"/>
          </a:xfrm>
          <a:prstGeom prst="roundRect">
            <a:avLst>
              <a:gd fmla="val 882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568746" y="299008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1 099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315200" y="359359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bcc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001000" y="3666744"/>
            <a:ext cx="231321" cy="310896"/>
          </a:xfrm>
          <a:prstGeom prst="roundRect">
            <a:avLst>
              <a:gd fmla="val 11859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305473" y="3593592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514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315200" y="4197096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akiec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001000" y="4270248"/>
            <a:ext cx="147163" cy="310896"/>
          </a:xfrm>
          <a:prstGeom prst="roundRect">
            <a:avLst>
              <a:gd fmla="val 18641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221315" y="4197096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327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315200" y="48006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vasc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8001000" y="4873752"/>
            <a:ext cx="63906" cy="310896"/>
          </a:xfrm>
          <a:prstGeom prst="roundRect">
            <a:avLst>
              <a:gd fmla="val 4292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138058" y="480060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142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315200" y="5404104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001000" y="5477256"/>
            <a:ext cx="51755" cy="310896"/>
          </a:xfrm>
          <a:prstGeom prst="roundRect">
            <a:avLst>
              <a:gd fmla="val 5300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125907" y="5404104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115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548640" y="4114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371600" y="3840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METOD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Multimodal fusionsarkitektur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37160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Strukturerad och ostrukturerad data möts i samma nät — projektets tekniska kärna.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48640" y="1965960"/>
            <a:ext cx="1965960" cy="1005840"/>
          </a:xfrm>
          <a:prstGeom prst="roundRect">
            <a:avLst>
              <a:gd fmla="val 7273" name="adj"/>
            </a:avLst>
          </a:prstGeom>
          <a:solidFill>
            <a:srgbClr val="F1F7F8"/>
          </a:solidFill>
          <a:ln>
            <a:noFill/>
          </a:ln>
          <a:effectLst>
            <a:outerShdw blurRad="101600" rotWithShape="0" algn="bl" dir="5400000" dist="38100">
              <a:srgbClr val="0B2E3F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8640" y="1965960"/>
            <a:ext cx="1965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Dermatoskopisk bild</a:t>
            </a:r>
            <a:br>
              <a:rPr b="1" i="0" lang="en-US" sz="14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224 × 224 ×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880360" y="1965960"/>
            <a:ext cx="1965960" cy="1005840"/>
          </a:xfrm>
          <a:prstGeom prst="roundRect">
            <a:avLst>
              <a:gd fmla="val 7273" name="adj"/>
            </a:avLst>
          </a:prstGeom>
          <a:solidFill>
            <a:srgbClr val="028090"/>
          </a:solidFill>
          <a:ln>
            <a:noFill/>
          </a:ln>
          <a:effectLst>
            <a:outerShdw blurRad="101600" rotWithShape="0" algn="bl" dir="5400000" dist="38100">
              <a:srgbClr val="0B2E3F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880360" y="1965960"/>
            <a:ext cx="1965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ResNet50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förtränad → 2048-dim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3977640"/>
            <a:ext cx="1965960" cy="1005840"/>
          </a:xfrm>
          <a:prstGeom prst="roundRect">
            <a:avLst>
              <a:gd fmla="val 7273" name="adj"/>
            </a:avLst>
          </a:prstGeom>
          <a:solidFill>
            <a:srgbClr val="F1F7F8"/>
          </a:solidFill>
          <a:ln>
            <a:noFill/>
          </a:ln>
          <a:effectLst>
            <a:outerShdw blurRad="101600" rotWithShape="0" algn="bl" dir="5400000" dist="38100">
              <a:srgbClr val="0B2E3F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3977640"/>
            <a:ext cx="1965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Patientmetadata</a:t>
            </a:r>
            <a:br>
              <a:rPr b="1" i="0" lang="en-US" sz="14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ålder, kön, lokalisation (18)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880360" y="3977640"/>
            <a:ext cx="1965960" cy="1005840"/>
          </a:xfrm>
          <a:prstGeom prst="roundRect">
            <a:avLst>
              <a:gd fmla="val 7273" name="adj"/>
            </a:avLst>
          </a:prstGeom>
          <a:solidFill>
            <a:srgbClr val="028090"/>
          </a:solidFill>
          <a:ln>
            <a:noFill/>
          </a:ln>
          <a:effectLst>
            <a:outerShdw blurRad="101600" rotWithShape="0" algn="bl" dir="5400000" dist="38100">
              <a:srgbClr val="0B2E3F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880360" y="3977640"/>
            <a:ext cx="1965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Tabular MLP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→ 64-dim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532120" y="2971800"/>
            <a:ext cx="1783080" cy="1005840"/>
          </a:xfrm>
          <a:prstGeom prst="roundRect">
            <a:avLst>
              <a:gd fmla="val 7273" name="adj"/>
            </a:avLst>
          </a:prstGeom>
          <a:solidFill>
            <a:srgbClr val="02C39A"/>
          </a:solidFill>
          <a:ln>
            <a:noFill/>
          </a:ln>
          <a:effectLst>
            <a:outerShdw blurRad="101600" rotWithShape="0" algn="bl" dir="5400000" dist="38100">
              <a:srgbClr val="0B2E3F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532120" y="2971800"/>
            <a:ext cx="1783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Konkatenering</a:t>
            </a:r>
            <a:br>
              <a:rPr b="1" i="0" lang="en-US" sz="14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2048 + 64 = 2112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680960" y="2971800"/>
            <a:ext cx="1783080" cy="1005840"/>
          </a:xfrm>
          <a:prstGeom prst="roundRect">
            <a:avLst>
              <a:gd fmla="val 7273" name="adj"/>
            </a:avLst>
          </a:prstGeom>
          <a:solidFill>
            <a:srgbClr val="028090"/>
          </a:solidFill>
          <a:ln>
            <a:noFill/>
          </a:ln>
          <a:effectLst>
            <a:outerShdw blurRad="101600" rotWithShape="0" algn="bl" dir="5400000" dist="38100">
              <a:srgbClr val="0B2E3F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680960" y="2971800"/>
            <a:ext cx="1783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Fusionshuvud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Dense 256 + Dropout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829800" y="2971800"/>
            <a:ext cx="1828800" cy="1005840"/>
          </a:xfrm>
          <a:prstGeom prst="roundRect">
            <a:avLst>
              <a:gd fmla="val 7273" name="adj"/>
            </a:avLst>
          </a:prstGeom>
          <a:solidFill>
            <a:srgbClr val="0B2E3F"/>
          </a:solidFill>
          <a:ln>
            <a:noFill/>
          </a:ln>
          <a:effectLst>
            <a:outerShdw blurRad="101600" rotWithShape="0" algn="bl" dir="5400000" dist="38100">
              <a:srgbClr val="0B2E3F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829800" y="29718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b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→ 7 diagnoser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2514600" y="246888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5E75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4"/>
          <p:cNvCxnSpPr/>
          <p:nvPr/>
        </p:nvCxnSpPr>
        <p:spPr>
          <a:xfrm>
            <a:off x="2514600" y="448056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5E75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" name="Google Shape;129;p4"/>
          <p:cNvCxnSpPr/>
          <p:nvPr/>
        </p:nvCxnSpPr>
        <p:spPr>
          <a:xfrm>
            <a:off x="4846320" y="2468880"/>
            <a:ext cx="685800" cy="731520"/>
          </a:xfrm>
          <a:prstGeom prst="straightConnector1">
            <a:avLst/>
          </a:prstGeom>
          <a:noFill/>
          <a:ln cap="flat" cmpd="sng" w="25400">
            <a:solidFill>
              <a:srgbClr val="5E75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" name="Google Shape;130;p4"/>
          <p:cNvCxnSpPr/>
          <p:nvPr/>
        </p:nvCxnSpPr>
        <p:spPr>
          <a:xfrm flipH="1" rot="10800000">
            <a:off x="4846320" y="3749040"/>
            <a:ext cx="685800" cy="731520"/>
          </a:xfrm>
          <a:prstGeom prst="straightConnector1">
            <a:avLst/>
          </a:prstGeom>
          <a:noFill/>
          <a:ln cap="flat" cmpd="sng" w="25400">
            <a:solidFill>
              <a:srgbClr val="5E75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p4"/>
          <p:cNvCxnSpPr/>
          <p:nvPr/>
        </p:nvCxnSpPr>
        <p:spPr>
          <a:xfrm>
            <a:off x="7315200" y="347472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5E758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9464040" y="347472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5E75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4"/>
          <p:cNvSpPr/>
          <p:nvPr/>
        </p:nvSpPr>
        <p:spPr>
          <a:xfrm>
            <a:off x="548640" y="16916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BILDGREN (ostrukturerad)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48640" y="370332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METADATAGREN (strukturerad)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Transfer learning i två faser: fryst stomme först, sedan finjustering med låg inlärningstakt. Mixed precision (AMP) för snabbare träning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548640" y="4114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371600" y="3840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METOD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Så hanterade jag obalansen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1F7F8"/>
          </a:solidFill>
          <a:ln cap="flat" cmpd="sng" w="12700">
            <a:solidFill>
              <a:srgbClr val="DCE9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68680" y="193852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978408" y="2048256"/>
            <a:ext cx="237744" cy="23774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600200" y="180136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Viktad förlustfunktion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577840" y="1783080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Sällsynta klasser får större vikt i förlusten, modellen straffas hårdare för att missa dem.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48640" y="2761488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1F7F8"/>
          </a:solidFill>
          <a:ln cap="flat" cmpd="sng" w="12700">
            <a:solidFill>
              <a:srgbClr val="DCE9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68680" y="3008376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78408" y="3118104"/>
            <a:ext cx="237744" cy="23774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600200" y="2871216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En korrigering, inte två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577840" y="28529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Viktad sampling och viktad förlust korrigerar dubbelt, nv:s recall föll till 64 % och mel:s precision till 32 %. Därför bara en av dem.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8640" y="3831336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1F7F8"/>
          </a:solidFill>
          <a:ln cap="flat" cmpd="sng" w="12700">
            <a:solidFill>
              <a:srgbClr val="DCE9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68680" y="4078224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978408" y="4187952"/>
            <a:ext cx="237744" cy="23774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600200" y="3941064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Tvåfas transfer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577840" y="3922776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Fryst stomme först, sedan finjustering, stabilare inlärning.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48640" y="4901184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1F7F8"/>
          </a:solidFill>
          <a:ln cap="flat" cmpd="sng" w="12700">
            <a:solidFill>
              <a:srgbClr val="DCE9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868680" y="51480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78408" y="5257800"/>
            <a:ext cx="237744" cy="23774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600200" y="5010912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Macro-F1 som urvalskriterium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577840" y="4992624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Bästa modellen väljs på macro-F1, inte accuracy som döljs av nv.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RESULTAT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Modellen presterar starkt på testmängden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40080" y="1920240"/>
            <a:ext cx="2697480" cy="3017520"/>
          </a:xfrm>
          <a:prstGeom prst="roundRect">
            <a:avLst>
              <a:gd fmla="val 3390" name="adj"/>
            </a:avLst>
          </a:prstGeom>
          <a:solidFill>
            <a:srgbClr val="12414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40080" y="2286000"/>
            <a:ext cx="2697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0,958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77240" y="33375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Macro AUC-ROC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22960" y="3794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utmärkt särskiljning över alla klasser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474720" y="1920240"/>
            <a:ext cx="2697480" cy="3017520"/>
          </a:xfrm>
          <a:prstGeom prst="roundRect">
            <a:avLst>
              <a:gd fmla="val 3390" name="adj"/>
            </a:avLst>
          </a:prstGeom>
          <a:solidFill>
            <a:srgbClr val="12414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474720" y="2286000"/>
            <a:ext cx="2697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68,2 %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611880" y="33375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Macro recall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657600" y="3794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hittar de flesta fall i varje klass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309360" y="1920240"/>
            <a:ext cx="2697480" cy="3017520"/>
          </a:xfrm>
          <a:prstGeom prst="roundRect">
            <a:avLst>
              <a:gd fmla="val 3390" name="adj"/>
            </a:avLst>
          </a:prstGeom>
          <a:solidFill>
            <a:srgbClr val="12414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309360" y="2286000"/>
            <a:ext cx="2697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0,692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446520" y="33375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Macro F1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492240" y="3794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balanserat mått trots obalansen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9144000" y="1920240"/>
            <a:ext cx="2697480" cy="3017520"/>
          </a:xfrm>
          <a:prstGeom prst="roundRect">
            <a:avLst>
              <a:gd fmla="val 3390" name="adj"/>
            </a:avLst>
          </a:prstGeom>
          <a:solidFill>
            <a:srgbClr val="12414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9144000" y="2286000"/>
            <a:ext cx="2697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81,6 %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281160" y="333756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9326880" y="37947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på hela testmängden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Nyckeln: siffrorna är mätta på en grupperad split, ingen lesion förekommer i både träning och test. Svårare, men ärligt.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548640" y="4114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371600" y="3840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UTVÄRDERING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AUC-ROC: stark särskiljning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roc_curves.png" id="196" name="Google Shape;1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50" y="1166525"/>
            <a:ext cx="6257700" cy="548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/>
          <p:nvPr/>
        </p:nvSpPr>
        <p:spPr>
          <a:xfrm>
            <a:off x="6858000" y="1737360"/>
            <a:ext cx="475488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450"/>
              <a:buFont typeface="Calibri"/>
              <a:buChar char="•"/>
            </a:pPr>
            <a:r>
              <a:rPr b="1" i="0" lang="en-US" sz="145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Macro AUC 0,958 kurvorna trycks mot ideal hörnet uppe till vänster.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12333F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Starkast på bcc, df och vasc (0,98–0,99).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2809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mel är svårast (0,91) melanom överlappar visuellt med andra lesioner.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548640" y="4114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371600" y="3840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UTVÄRDERING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Confusion matrix: berättelsen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confusion_matrix.png"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948" y="1261875"/>
            <a:ext cx="6158475" cy="54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6858000" y="1737360"/>
            <a:ext cx="475488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450"/>
              <a:buFont typeface="Calibri"/>
              <a:buChar char="•"/>
            </a:pPr>
            <a:r>
              <a:rPr b="1" i="0" lang="en-US" sz="145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Hög precision på nv (93,1 %): säger modellen nv har den nästan alltid rätt.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12333F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50 nv släpps medvetet till mel, hellre falsklarm än missat melanom.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2809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Diagonalen dominerar för alla klasser, även de sällsynta.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548640" y="4114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371600" y="3840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UTVÄRDERING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Precision-Recall: rätt mått för obalans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pr_curves.png" id="216" name="Google Shape;2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900" y="1442525"/>
            <a:ext cx="5692626" cy="499355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/>
          <p:nvPr/>
        </p:nvSpPr>
        <p:spPr>
          <a:xfrm>
            <a:off x="6858000" y="1737360"/>
            <a:ext cx="475488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1450"/>
              <a:buFont typeface="Calibri"/>
              <a:buChar char="•"/>
            </a:pPr>
            <a:r>
              <a:rPr b="1" i="0" lang="en-US" sz="145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Under kraftig obalans är PR mer ärligt än ROC.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12333F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2333F"/>
                </a:solidFill>
                <a:latin typeface="Calibri"/>
                <a:ea typeface="Calibri"/>
                <a:cs typeface="Calibri"/>
                <a:sym typeface="Calibri"/>
              </a:rPr>
              <a:t>nv (brun) håller sig högt, lätt och pålitlig klass.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2809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akiec (blå) och mel (lila) ligger lägst, modellens verkliga flaskhals.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548640" y="4114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371600" y="38404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UNSUPERVISED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371600" y="621792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33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333F"/>
                </a:solidFill>
                <a:latin typeface="Cambria"/>
                <a:ea typeface="Cambria"/>
                <a:cs typeface="Cambria"/>
                <a:sym typeface="Cambria"/>
              </a:rPr>
              <a:t>Oövervakad analys: UMAP + klustring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umap_clusters.png" id="226" name="Google Shape;2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00" y="1720050"/>
            <a:ext cx="11879227" cy="33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5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E7580"/>
                </a:solidFill>
                <a:latin typeface="Calibri"/>
                <a:ea typeface="Calibri"/>
                <a:cs typeface="Calibri"/>
                <a:sym typeface="Calibri"/>
              </a:rPr>
              <a:t>Vänster: sann diagnos.   Mitten: KMeans k=2, valt på silhouette (ARI −0,05).   Höger: silhouette per 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822960" y="605332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Klustren matchar inte diagnoserna (ARI 0,02 vid k=7). Embeddings från vikter som aldrig sett en etikett, grupperar efter utseende, inte klinik. Det motiverar den övervakade multimodala modellen.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3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640080" y="5943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SLUTSATSER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03504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Vad projektet visar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188720" y="18288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Hela ML-kedjan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188720" y="22860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Från EDA med hypotestest och oövervakad analys till djupinlärning, baslinjer och rigorös utvärdering.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188720" y="315468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Multimodal djupinlärning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188720" y="36118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Bild och strukturerad metadata fusionerade i ett enda nät, den mest komplexa tekniken i kursen.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188720" y="448056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Genomtänkt obalanshantering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188720" y="49377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Viktad förlust, medvetet bara en korrigering, inte två - ger stark prestanda på sällsynta, kliniskt viktiga klasser.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675120" y="1874520"/>
            <a:ext cx="4937760" cy="3840480"/>
          </a:xfrm>
          <a:prstGeom prst="roundRect">
            <a:avLst>
              <a:gd fmla="val 2381" name="adj"/>
            </a:avLst>
          </a:prstGeom>
          <a:solidFill>
            <a:srgbClr val="12414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995160" y="20574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Nästa steg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995160" y="2560320"/>
            <a:ext cx="4343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FE7E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Tröskel justering för att lyfta melanom-recall, den kliniskt viktigaste klassen.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CFE7E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CFE7EA"/>
                </a:solidFill>
                <a:latin typeface="Calibri"/>
                <a:ea typeface="Calibri"/>
                <a:cs typeface="Calibri"/>
                <a:sym typeface="Calibri"/>
              </a:rPr>
              <a:t>Streamlit-demo för live-inferens.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40080" y="5989320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Tack!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2026-08-24T09:14:57Z</dcterms:created>
  <dc:creator>PptxGenJS</dc:creator>
</cp:coreProperties>
</file>